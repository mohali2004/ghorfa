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60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(~30 sec):</a:t>
            </a:r>
          </a:p>
          <a:p>
            <a:r>
              <a:t>Welcome. Today I present Ghorfa — a Laravel property platform with AI for smarter discovery.</a:t>
            </a:r>
          </a:p>
          <a:p>
            <a:r>
              <a:t>Structure: 5 min slides on how AI works, then ~10 min live demo of the website.</a:t>
            </a:r>
          </a:p>
          <a:p>
            <a:r>
              <a:t>Focus: semantic search and personalized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(~20 sec):</a:t>
            </a:r>
          </a:p>
          <a:p>
            <a:r>
              <a:t>First I explain the AI features briefly. Then I switch to the live site for the main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(~45 sec):</a:t>
            </a:r>
          </a:p>
          <a:p>
            <a:r>
              <a:t>Users search in Arabic or English. Exact keyword search fails on transliteration.</a:t>
            </a:r>
          </a:p>
          <a:p>
            <a:r>
              <a:t>Default sorts (price, newest) are not personalized.</a:t>
            </a:r>
          </a:p>
          <a:p>
            <a:r>
              <a:t>We needed smarter discovery without confusing the UI with AI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(~40 sec):</a:t>
            </a:r>
          </a:p>
          <a:p>
            <a:r>
              <a:t>Key distinction for the jury:</a:t>
            </a:r>
          </a:p>
          <a:p>
            <a:r>
              <a:t>Semantic search = which properties match this text?</a:t>
            </a:r>
          </a:p>
          <a:p>
            <a:r>
              <a:t>Recommendations = which properties fit this user?</a:t>
            </a:r>
          </a:p>
          <a:p>
            <a:r>
              <a:t>Both are invisible — user just sees search results and Recommended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(~60 sec):</a:t>
            </a:r>
          </a:p>
          <a:p>
            <a:r>
              <a:t>User types an Arabic or English place name. We expand variants, score keywords,</a:t>
            </a:r>
          </a:p>
          <a:p>
            <a:r>
              <a:t>embed the query, compare with stored listing vectors using cosine similarity.</a:t>
            </a:r>
          </a:p>
          <a:p>
            <a:r>
              <a:t>Final score blends keyword and semantic. Strong keyword hits get a bonus.</a:t>
            </a:r>
          </a:p>
          <a:p>
            <a:r>
              <a:t>If API fails, classic LIKE search still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(~60 sec):</a:t>
            </a:r>
          </a:p>
          <a:p>
            <a:r>
              <a:t>We track views, clicks, likes, contacts with weights.</a:t>
            </a:r>
          </a:p>
          <a:p>
            <a:r>
              <a:t>Collaborative finds similar users. Content matches preferences (with optional embedding blend).</a:t>
            </a:r>
          </a:p>
          <a:p>
            <a:r>
              <a:t>Location uses GPS distance. Popularity is a light boost.</a:t>
            </a:r>
          </a:p>
          <a:p>
            <a:r>
              <a:t>New users get cold-start ranking. In search, Recommended just reorders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(~40 sec):</a:t>
            </a:r>
          </a:p>
          <a:p>
            <a:r>
              <a:t>Actions feed the behavior layer. Semantic search ranks by meaning of the query.</a:t>
            </a:r>
          </a:p>
          <a:p>
            <a:r>
              <a:t>Recommendations personalize order. OpenAI is optional with fallbacks. Ready for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 SCRIPT (~10 min) — leave this slide up while you demo</a:t>
            </a:r>
          </a:p>
          <a:p>
            <a:endParaRPr/>
          </a:p>
          <a:p>
            <a:r>
              <a:t>1) HOME (1 min)</a:t>
            </a:r>
          </a:p>
          <a:p>
            <a:r>
              <a:t>   - Open homepage, show listings and Recommended For You if visible.</a:t>
            </a:r>
          </a:p>
          <a:p>
            <a:r>
              <a:t>   - Brief: normal property platform + AI under the hood.</a:t>
            </a:r>
          </a:p>
          <a:p>
            <a:endParaRPr/>
          </a:p>
          <a:p>
            <a:r>
              <a:t>2) SEARCH &amp; FILTERS (2 min)</a:t>
            </a:r>
          </a:p>
          <a:p>
            <a:r>
              <a:t>   - Go to /search. Show filters (price, type, amenities).</a:t>
            </a:r>
          </a:p>
          <a:p>
            <a:r>
              <a:t>   - Point to sort dropdown: Recommended is default.</a:t>
            </a:r>
          </a:p>
          <a:p>
            <a:r>
              <a:t>   - Apply a filter (e.g. Rent / city) so jury sees filters still work.</a:t>
            </a:r>
          </a:p>
          <a:p>
            <a:endParaRPr/>
          </a:p>
          <a:p>
            <a:r>
              <a:t>3) SEMANTIC SEARCH (3 min)  *** highlight ***</a:t>
            </a:r>
          </a:p>
          <a:p>
            <a:r>
              <a:t>   - Type Arabic place name OR a natural phrase.</a:t>
            </a:r>
          </a:p>
          <a:p>
            <a:r>
              <a:t>   - Show relevant results that exact SQL might miss.</a:t>
            </a:r>
          </a:p>
          <a:p>
            <a:r>
              <a:t>   - Say: expansion + embeddings + keyword blend; Recommended sort active.</a:t>
            </a:r>
          </a:p>
          <a:p>
            <a:endParaRPr/>
          </a:p>
          <a:p>
            <a:r>
              <a:t>4) PERSONALIZATION (3 min)  *** highlight ***</a:t>
            </a:r>
          </a:p>
          <a:p>
            <a:r>
              <a:t>   - Open 1–2 properties, like them.</a:t>
            </a:r>
          </a:p>
          <a:p>
            <a:r>
              <a:t>   - Return to search with Recommended sort.</a:t>
            </a:r>
          </a:p>
          <a:p>
            <a:r>
              <a:t>   - Refresh / search again — order reflects likes (collaborative + content).</a:t>
            </a:r>
          </a:p>
          <a:p>
            <a:r>
              <a:t>   - Mention cold start for guests if you show logged-out briefly.</a:t>
            </a:r>
          </a:p>
          <a:p>
            <a:endParaRPr/>
          </a:p>
          <a:p>
            <a:r>
              <a:t>5) OPTIONAL MAP + WRAP (1 min)</a:t>
            </a:r>
          </a:p>
          <a:p>
            <a:r>
              <a:t>   - Quick map search if time.</a:t>
            </a:r>
          </a:p>
          <a:p>
            <a:r>
              <a:t>   - Close: AI is silent, degrades gracefully, improves discovery.</a:t>
            </a:r>
          </a:p>
          <a:p>
            <a:r>
              <a:t>   - Invite questions.</a:t>
            </a:r>
          </a:p>
          <a:p>
            <a:endParaRPr/>
          </a:p>
          <a:p>
            <a:r>
              <a:t>BACKUP if OpenAI fails: still show LIKE search + attribute recommendations / popularity.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</a:t>
            </a:r>
          </a:p>
          <a:p>
            <a:r>
              <a:t>Thank the jury. Open for questions.</a:t>
            </a:r>
          </a:p>
          <a:p>
            <a:r>
              <a:t>Likely Qs: cold start, why hybrid weights, embedding cost/latency, privacy of interactions,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B8D4D4"/>
                </a:solidFill>
                <a:latin typeface="Calibri"/>
              </a:rPr>
              <a:t>AI-Powered Property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Georgia"/>
              </a:rPr>
              <a:t>GHORFA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9AB8C0"/>
                </a:solidFill>
                <a:latin typeface="Calibri"/>
              </a:rPr>
              <a:t>Semantic Search  ·  Hybrid Recommendations  · 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Capstone Project Presentation  | 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5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minutes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7EA79-398E-7964-3F1C-128163410D62}"/>
              </a:ext>
            </a:extLst>
          </p:cNvPr>
          <p:cNvSpPr txBox="1"/>
          <p:nvPr/>
        </p:nvSpPr>
        <p:spPr>
          <a:xfrm>
            <a:off x="8040623" y="6445180"/>
            <a:ext cx="3825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Made By: Mohammad Ali </a:t>
            </a:r>
            <a:r>
              <a:rPr lang="en-US" sz="1200" dirty="0" err="1">
                <a:solidFill>
                  <a:schemeClr val="bg1"/>
                </a:solidFill>
              </a:rPr>
              <a:t>Mroweh</a:t>
            </a:r>
            <a:r>
              <a:rPr lang="en-US" sz="1200" dirty="0">
                <a:solidFill>
                  <a:schemeClr val="bg1"/>
                </a:solidFill>
              </a:rPr>
              <a:t> &amp; Mohammad </a:t>
            </a:r>
            <a:r>
              <a:rPr lang="en-US" sz="1200" dirty="0" err="1">
                <a:solidFill>
                  <a:schemeClr val="bg1"/>
                </a:solidFill>
              </a:rPr>
              <a:t>Jezzini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2C3F"/>
                </a:solidFill>
                <a:latin typeface="Georgia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C3F"/>
                </a:solidFill>
                <a:latin typeface="Calibri"/>
              </a:rPr>
              <a:t>Part 1 —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6B6B"/>
                </a:solidFill>
                <a:latin typeface="Calibri"/>
              </a:rPr>
              <a:t>~5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Problem &amp; solution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Semantic search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Recommendations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How they work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120640" cy="109728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C3F"/>
                </a:solidFill>
                <a:latin typeface="Calibri"/>
              </a:rPr>
              <a:t>Part 2 —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7B3A"/>
                </a:solidFill>
                <a:latin typeface="Calibri"/>
              </a:rPr>
              <a:t>~10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4320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Browse &amp; filters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Arabic / natural-language search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Recommended sort personalization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1E1E"/>
                </a:solidFill>
                <a:latin typeface="Calibri"/>
              </a:rPr>
              <a:t>•  Like → see ranking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2C3F"/>
                </a:solidFill>
                <a:latin typeface="Georg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5A5A5A"/>
                </a:solidFill>
                <a:latin typeface="Calibri"/>
              </a:rPr>
              <a:t>Traditional property search is limited for Lebanese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9728" cy="118872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3F"/>
                </a:solidFill>
                <a:latin typeface="Calibri"/>
              </a:rPr>
              <a:t>Exact text match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Arabic vs English place names — SQL LIKE misses bilingual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698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9728" cy="118872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429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C3F"/>
                </a:solidFill>
                <a:latin typeface="Calibri"/>
              </a:rPr>
              <a:t>No personal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Newest / price sort ignores what the user actually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109728" cy="118872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2C3F"/>
                </a:solidFill>
                <a:latin typeface="Calibri"/>
              </a:rPr>
              <a:t>Cold start for new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12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5A5A5A"/>
                </a:solidFill>
                <a:latin typeface="Calibri"/>
              </a:rPr>
              <a:t>Guests and new accounts get no useful personalization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2C3F"/>
                </a:solidFill>
                <a:latin typeface="Georgia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5A5A"/>
                </a:solidFill>
                <a:latin typeface="Calibri"/>
              </a:rPr>
              <a:t>Two AI features that run silently inside normal search &amp; Recommended sort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1371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C3F"/>
                </a:solidFill>
                <a:latin typeface="Calibri"/>
              </a:rPr>
              <a:t>Semantic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Match what the user typed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Bilingual expansion + OpenAI embeddings + keyword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212080" cy="137160"/>
          </a:xfrm>
          <a:prstGeom prst="rect">
            <a:avLst/>
          </a:prstGeom>
          <a:solidFill>
            <a:srgbClr val="C47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C3F"/>
                </a:solidFill>
                <a:latin typeface="Calibri"/>
              </a:rPr>
              <a:t>Hybrid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7B3A"/>
                </a:solidFill>
                <a:latin typeface="Calibri"/>
              </a:rPr>
              <a:t>Rank what the user may like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Collaborative + content + location + popularity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Semantic Search — 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Expand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Arabic ↔ English</a:t>
            </a:r>
          </a:p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dictionary + 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8912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Keyword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Score city, title,</a:t>
            </a:r>
          </a:p>
          <a:p>
            <a:pPr algn="ctr"/>
            <a:r>
              <a:rPr sz="1300" b="0" dirty="0">
                <a:solidFill>
                  <a:srgbClr val="5A5A5A"/>
                </a:solidFill>
                <a:latin typeface="Calibri"/>
              </a:rPr>
              <a:t>address, amenities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6948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Query vector vs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property vectors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188720"/>
            <a:ext cx="2697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49840" y="1417320"/>
            <a:ext cx="640080" cy="640080"/>
          </a:xfrm>
          <a:prstGeom prst="ellipse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C3F"/>
                </a:solidFill>
                <a:latin typeface="Calibri"/>
              </a:rPr>
              <a:t>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3464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60% keyword +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40% semantic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Property embeddings are pre-computed at save time. Only the search query is embedded at runtime.</a:t>
            </a:r>
          </a:p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Fallback: if OpenAI is unavailable → standard SQL LIKE 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Hybrid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6B"/>
                </a:solidFill>
                <a:latin typeface="Calibri"/>
              </a:rPr>
              <a:t>final = 0.40×Collaborative + 0.25×Content + 0.25×Location + 0.10×Popularity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F2C3F"/>
                </a:solidFill>
                <a:latin typeface="Calibri"/>
              </a:rPr>
              <a:t>Collaborative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Users like you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also liked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F2C3F"/>
                </a:solidFill>
                <a:latin typeface="Calibri"/>
              </a:rP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Type, city, price,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amenities + 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3F"/>
                </a:solidFill>
                <a:latin typeface="Calibri"/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Haversine distance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to search area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554480"/>
            <a:ext cx="2697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47B3A"/>
                </a:solidFill>
                <a:latin typeface="Calibri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3F"/>
                </a:solidFill>
                <a:latin typeface="Calibri"/>
              </a:rPr>
              <a:t>Popularity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Views + likes×3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normalized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Cold start (no history): filter match + location + popularity + recency.</a:t>
            </a:r>
          </a:p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On search: Recommended sort reorders the filtered listings grid — no separate AI section.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FE4CA1F-A7F3-F5C1-2B60-F465ACF24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115284"/>
              </p:ext>
            </p:extLst>
          </p:nvPr>
        </p:nvGraphicFramePr>
        <p:xfrm>
          <a:off x="8065523" y="3825826"/>
          <a:ext cx="2502065" cy="27121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35265">
                  <a:extLst>
                    <a:ext uri="{9D8B030D-6E8A-4147-A177-3AD203B41FA5}">
                      <a16:colId xmlns:a16="http://schemas.microsoft.com/office/drawing/2014/main" val="267649168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55150600"/>
                    </a:ext>
                  </a:extLst>
                </a:gridCol>
              </a:tblGrid>
              <a:tr h="4261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effectLst/>
                        </a:rPr>
                        <a:t>Distance from search center</a:t>
                      </a: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dirty="0">
                          <a:effectLst/>
                        </a:rPr>
                        <a:t>Location score</a:t>
                      </a: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1432293471"/>
                  </a:ext>
                </a:extLst>
              </a:tr>
              <a:tr h="14872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1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>
                          <a:effectLst/>
                        </a:rPr>
                        <a:t>1.00</a:t>
                      </a:r>
                      <a:endParaRPr lang="en-US" sz="100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908551656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3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0.85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4104389510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5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0.70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4084398272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10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0.45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3966228207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≤ 20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0.20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1124477530"/>
                  </a:ext>
                </a:extLst>
              </a:tr>
              <a:tr h="36341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dirty="0">
                          <a:effectLst/>
                        </a:rPr>
                        <a:t>&gt; 20 km</a:t>
                      </a: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000" b="1" dirty="0">
                          <a:effectLst/>
                        </a:rPr>
                        <a:t>0.00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876434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2C3F"/>
                </a:solidFill>
                <a:latin typeface="Georgia"/>
              </a:rPr>
              <a:t>How They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06040" cy="2377440"/>
          </a:xfrm>
          <a:prstGeom prst="round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User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Search, view,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like,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47B3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06040" cy="237744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Behavior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Interactions &amp;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search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47B3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06040" cy="2377440"/>
          </a:xfrm>
          <a:prstGeom prst="round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Match the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query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47B3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606040" cy="2377440"/>
          </a:xfrm>
          <a:prstGeom prst="round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774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Personalize</a:t>
            </a:r>
          </a:p>
          <a:p>
            <a:pPr algn="ctr"/>
            <a:r>
              <a:rPr sz="1400" b="0">
                <a:solidFill>
                  <a:srgbClr val="D0E4E4"/>
                </a:solidFill>
                <a:latin typeface="Calibri"/>
              </a:rPr>
              <a:t>the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Stack: Laravel 11 · PHP · OpenAI text-embedding-3-small · gpt-4o-mini (query expansion)</a:t>
            </a:r>
          </a:p>
          <a:p>
            <a:pPr algn="l"/>
            <a:endParaRPr sz="1600" b="0">
              <a:solidFill>
                <a:srgbClr val="5A5A5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Design principles: pre-compute embeddings · cache results · graceful fallback · invisible 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D4D4"/>
                </a:solidFill>
                <a:latin typeface="Calibri"/>
              </a:rPr>
              <a:t>Website walkthrough  ·  ~10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1.  Home &amp; browse listings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2.  Filters + Recommended sort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3.  Semantic search (Arabic / natural language)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4.  Like properties → refresh Recommended order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5. </a:t>
            </a:r>
            <a:r>
              <a:rPr lang="en-US" sz="1800" b="0" dirty="0">
                <a:solidFill>
                  <a:srgbClr val="FFFFFF"/>
                </a:solidFill>
                <a:latin typeface="Calibri"/>
              </a:rPr>
              <a:t> Map search (optional) + Q&amp;A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FFFFFF"/>
                </a:solidFill>
                <a:latin typeface="Calibri"/>
              </a:rPr>
              <a:t>6. Become a landlord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FFFFFF"/>
                </a:solidFill>
                <a:latin typeface="Calibri"/>
              </a:rPr>
              <a:t>7. Listing a Space 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FFFFFF"/>
                </a:solidFill>
                <a:latin typeface="Calibri"/>
              </a:rPr>
              <a:t>6. Transactions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8D4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A8B0"/>
                </a:solidFill>
                <a:latin typeface="Calibri"/>
              </a:rPr>
              <a:t>Ghorfa  ·  Semantic Search  ·  Hybrid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1094</Words>
  <Application>Microsoft Office PowerPoint</Application>
  <PresentationFormat>Widescreen</PresentationFormat>
  <Paragraphs>178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 ‏Ali</cp:lastModifiedBy>
  <cp:revision>4</cp:revision>
  <dcterms:created xsi:type="dcterms:W3CDTF">2013-01-27T09:14:16Z</dcterms:created>
  <dcterms:modified xsi:type="dcterms:W3CDTF">2026-07-20T21:48:39Z</dcterms:modified>
  <cp:category/>
</cp:coreProperties>
</file>